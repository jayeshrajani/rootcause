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791c4b786c4cfe" /><Relationship Type="http://schemas.openxmlformats.org/officeDocument/2006/relationships/extended-properties" Target="/docProps/app.xml" Id="R7de80b0668634a45" /><Relationship Type="http://schemas.openxmlformats.org/officeDocument/2006/relationships/officeDocument" Target="/ppt/presentation.xml" Id="R0a4a276f72024c9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63973e381714468"/>
  </p:sldMasterIdLst>
  <p:notesMasterIdLst>
    <p:notesMasterId xmlns:r="http://schemas.openxmlformats.org/officeDocument/2006/relationships" r:id="R53813a1584e24c09"/>
  </p:notesMasterIdLst>
  <p:sldIdLst>
    <p:sldId xmlns:r="http://schemas.openxmlformats.org/officeDocument/2006/relationships" id="256" r:id="R175dd124108e4778"/>
    <p:sldId xmlns:r="http://schemas.openxmlformats.org/officeDocument/2006/relationships" id="257" r:id="R1d6de2bde0004469"/>
    <p:sldId xmlns:r="http://schemas.openxmlformats.org/officeDocument/2006/relationships" id="258" r:id="R309c3a5cba674f0c"/>
    <p:sldId xmlns:r="http://schemas.openxmlformats.org/officeDocument/2006/relationships" id="259" r:id="R4eed1a227f374d29"/>
    <p:sldId xmlns:r="http://schemas.openxmlformats.org/officeDocument/2006/relationships" id="260" r:id="R1fcc7460439c4603"/>
    <p:sldId xmlns:r="http://schemas.openxmlformats.org/officeDocument/2006/relationships" id="261" r:id="R87a2f19a046d4e62"/>
    <p:sldId xmlns:r="http://schemas.openxmlformats.org/officeDocument/2006/relationships" id="262" r:id="R6773e28763a9467a"/>
    <p:sldId xmlns:r="http://schemas.openxmlformats.org/officeDocument/2006/relationships" id="263" r:id="R323def5646384b49"/>
    <p:sldId xmlns:r="http://schemas.openxmlformats.org/officeDocument/2006/relationships" id="264" r:id="Rf2190d0ca5e04e22"/>
    <p:sldId xmlns:r="http://schemas.openxmlformats.org/officeDocument/2006/relationships" id="265" r:id="Rb14c0eba11dd4f07"/>
    <p:sldId xmlns:r="http://schemas.openxmlformats.org/officeDocument/2006/relationships" id="266" r:id="R5d1a911002a44fa7"/>
    <p:sldId xmlns:r="http://schemas.openxmlformats.org/officeDocument/2006/relationships" id="267" r:id="Raac8ab7136a34c33"/>
    <p:sldId xmlns:r="http://schemas.openxmlformats.org/officeDocument/2006/relationships" id="268" r:id="R34f8b0bf36a24495"/>
    <p:sldId xmlns:r="http://schemas.openxmlformats.org/officeDocument/2006/relationships" id="269" r:id="R12b524a6a0f14b20"/>
    <p:sldId xmlns:r="http://schemas.openxmlformats.org/officeDocument/2006/relationships" id="270" r:id="R5a6044075c6946da"/>
    <p:sldId xmlns:r="http://schemas.openxmlformats.org/officeDocument/2006/relationships" id="271" r:id="R8dec272bcc3e4828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f790951334874c22"/>
      <p:bold xmlns:r="http://schemas.openxmlformats.org/officeDocument/2006/relationships" r:id="Ref22eda25ece4dfb"/>
    </p:embeddedFont>
    <p:embeddedFont>
      <p:font typeface="Google Sans Flex"/>
      <p:regular xmlns:r="http://schemas.openxmlformats.org/officeDocument/2006/relationships" r:id="R8f55b486d4df491b"/>
      <p:bold xmlns:r="http://schemas.openxmlformats.org/officeDocument/2006/relationships" r:id="R9a6a5f0265aa4cf4"/>
    </p:embeddedFont>
    <p:embeddedFont>
      <p:font typeface="Google Sans Flex SemiBold"/>
      <p:regular xmlns:r="http://schemas.openxmlformats.org/officeDocument/2006/relationships" r:id="R07d554bdd16a47d7"/>
      <p:bold xmlns:r="http://schemas.openxmlformats.org/officeDocument/2006/relationships" r:id="R54356011a83b4556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3025ee0f2a4338" /><Relationship Type="http://schemas.openxmlformats.org/officeDocument/2006/relationships/slideMaster" Target="/ppt/slideMasters/slideMaster1.xml" Id="Re63973e381714468" /><Relationship Type="http://schemas.openxmlformats.org/officeDocument/2006/relationships/notesMaster" Target="/ppt/notesMasters/notesMaster1.xml" Id="R53813a1584e24c09" /><Relationship Type="http://schemas.openxmlformats.org/officeDocument/2006/relationships/presProps" Target="/ppt/presProps.xml" Id="Rba9aaa45e602489c" /><Relationship Type="http://schemas.openxmlformats.org/officeDocument/2006/relationships/viewProps" Target="/ppt/viewProps.xml" Id="R5256a5b254e846da" /><Relationship Type="http://schemas.openxmlformats.org/officeDocument/2006/relationships/tableStyles" Target="/ppt/tableStyles.xml" Id="Rc91e0809a59c4e1e" /><Relationship Type="http://schemas.openxmlformats.org/officeDocument/2006/relationships/font" Target="/ppt/fonts/font.dat" Id="Rf790951334874c22" /><Relationship Type="http://schemas.openxmlformats.org/officeDocument/2006/relationships/font" Target="/ppt/fonts/font2.dat" Id="Ref22eda25ece4dfb" /><Relationship Type="http://schemas.openxmlformats.org/officeDocument/2006/relationships/font" Target="/ppt/fonts/font3.dat" Id="R8f55b486d4df491b" /><Relationship Type="http://schemas.openxmlformats.org/officeDocument/2006/relationships/font" Target="/ppt/fonts/font4.dat" Id="R9a6a5f0265aa4cf4" /><Relationship Type="http://schemas.openxmlformats.org/officeDocument/2006/relationships/font" Target="/ppt/fonts/font5.dat" Id="R07d554bdd16a47d7" /><Relationship Type="http://schemas.openxmlformats.org/officeDocument/2006/relationships/font" Target="/ppt/fonts/font6.dat" Id="R54356011a83b4556" /><Relationship Type="http://schemas.openxmlformats.org/officeDocument/2006/relationships/slide" Target="/ppt/slides/slide1.xml" Id="R175dd124108e4778" /><Relationship Type="http://schemas.openxmlformats.org/officeDocument/2006/relationships/slide" Target="/ppt/slides/slide2.xml" Id="R1d6de2bde0004469" /><Relationship Type="http://schemas.openxmlformats.org/officeDocument/2006/relationships/slide" Target="/ppt/slides/slide3.xml" Id="R309c3a5cba674f0c" /><Relationship Type="http://schemas.openxmlformats.org/officeDocument/2006/relationships/slide" Target="/ppt/slides/slide4.xml" Id="R4eed1a227f374d29" /><Relationship Type="http://schemas.openxmlformats.org/officeDocument/2006/relationships/slide" Target="/ppt/slides/slide5.xml" Id="R1fcc7460439c4603" /><Relationship Type="http://schemas.openxmlformats.org/officeDocument/2006/relationships/slide" Target="/ppt/slides/slide6.xml" Id="R87a2f19a046d4e62" /><Relationship Type="http://schemas.openxmlformats.org/officeDocument/2006/relationships/slide" Target="/ppt/slides/slide7.xml" Id="R6773e28763a9467a" /><Relationship Type="http://schemas.openxmlformats.org/officeDocument/2006/relationships/slide" Target="/ppt/slides/slide8.xml" Id="R323def5646384b49" /><Relationship Type="http://schemas.openxmlformats.org/officeDocument/2006/relationships/slide" Target="/ppt/slides/slide9.xml" Id="Rf2190d0ca5e04e22" /><Relationship Type="http://schemas.openxmlformats.org/officeDocument/2006/relationships/slide" Target="/ppt/slides/slide10.xml" Id="Rb14c0eba11dd4f07" /><Relationship Type="http://schemas.openxmlformats.org/officeDocument/2006/relationships/slide" Target="/ppt/slides/slide11.xml" Id="R5d1a911002a44fa7" /><Relationship Type="http://schemas.openxmlformats.org/officeDocument/2006/relationships/slide" Target="/ppt/slides/slide12.xml" Id="Raac8ab7136a34c33" /><Relationship Type="http://schemas.openxmlformats.org/officeDocument/2006/relationships/slide" Target="/ppt/slides/slide13.xml" Id="R34f8b0bf36a24495" /><Relationship Type="http://schemas.openxmlformats.org/officeDocument/2006/relationships/slide" Target="/ppt/slides/slide14.xml" Id="R12b524a6a0f14b20" /><Relationship Type="http://schemas.openxmlformats.org/officeDocument/2006/relationships/slide" Target="/ppt/slides/slide15.xml" Id="R5a6044075c6946da" /><Relationship Type="http://schemas.openxmlformats.org/officeDocument/2006/relationships/slide" Target="/ppt/slides/slide16.xml" Id="R8dec272bcc3e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178b2310142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b89044887446d" /><Relationship Type="http://schemas.openxmlformats.org/officeDocument/2006/relationships/notesMaster" Target="/ppt/notesMasters/notesMaster1.xml" Id="R219f280c11894e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d5a7d34fde4f8a" /><Relationship Type="http://schemas.openxmlformats.org/officeDocument/2006/relationships/notesMaster" Target="/ppt/notesMasters/notesMaster1.xml" Id="R94d726a71b39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753854736e44cd" /><Relationship Type="http://schemas.openxmlformats.org/officeDocument/2006/relationships/notesMaster" Target="/ppt/notesMasters/notesMaster1.xml" Id="R1d6f1f9e535a4d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78f658a224ef4" /><Relationship Type="http://schemas.openxmlformats.org/officeDocument/2006/relationships/notesMaster" Target="/ppt/notesMasters/notesMaster1.xml" Id="Rcb7b04c4e5fe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8c103ec0144c42" /><Relationship Type="http://schemas.openxmlformats.org/officeDocument/2006/relationships/notesMaster" Target="/ppt/notesMasters/notesMaster1.xml" Id="R98c0625817384a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f44868f66b47af" /><Relationship Type="http://schemas.openxmlformats.org/officeDocument/2006/relationships/notesMaster" Target="/ppt/notesMasters/notesMaster1.xml" Id="Raf4c3a08978546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4af0c62fbe4f1b" /><Relationship Type="http://schemas.openxmlformats.org/officeDocument/2006/relationships/notesMaster" Target="/ppt/notesMasters/notesMaster1.xml" Id="Ra8d0b681061941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3e1e1ff6cd444e" /><Relationship Type="http://schemas.openxmlformats.org/officeDocument/2006/relationships/notesMaster" Target="/ppt/notesMasters/notesMaster1.xml" Id="Ra8b5c55ee3924e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de0b4a808d42b7" /><Relationship Type="http://schemas.openxmlformats.org/officeDocument/2006/relationships/notesMaster" Target="/ppt/notesMasters/notesMaster1.xml" Id="Rb3ac251353bd4f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6e76a45a9d42db" /><Relationship Type="http://schemas.openxmlformats.org/officeDocument/2006/relationships/notesMaster" Target="/ppt/notesMasters/notesMaster1.xml" Id="R4a5452d51fd543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68f0cb21d64247" /><Relationship Type="http://schemas.openxmlformats.org/officeDocument/2006/relationships/notesMaster" Target="/ppt/notesMasters/notesMaster1.xml" Id="Rb0a68c1c6bdd4c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5b26412f0f4917" /><Relationship Type="http://schemas.openxmlformats.org/officeDocument/2006/relationships/notesMaster" Target="/ppt/notesMasters/notesMaster1.xml" Id="R76d0addbbf3d49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20b3eddaca4403" /><Relationship Type="http://schemas.openxmlformats.org/officeDocument/2006/relationships/notesMaster" Target="/ppt/notesMasters/notesMaster1.xml" Id="Rf4c65baf1a7542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f978cea6f64548" /><Relationship Type="http://schemas.openxmlformats.org/officeDocument/2006/relationships/notesMaster" Target="/ppt/notesMasters/notesMaster1.xml" Id="Rcb0f6df43b4a4d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fbf53861bf400a" /><Relationship Type="http://schemas.openxmlformats.org/officeDocument/2006/relationships/notesMaster" Target="/ppt/notesMasters/notesMaster1.xml" Id="Rd8ca64ee06284a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5ddef1b38a423b" /><Relationship Type="http://schemas.openxmlformats.org/officeDocument/2006/relationships/notesMaster" Target="/ppt/notesMasters/notesMaster1.xml" Id="Rdd62f2df7a79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 name was not present in the supplied submission materials and is left blank.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RootCause repository, docs/submission/README.md and its linked diagrams/screens. All product metrics and implementation-cost figures are reported in that README; estimates and evaluation limitations are labelled on-slide.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5a08c7f5f4f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6864b4f3a4b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d88d20ae44c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b29dddbfd43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3220420d54e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cf4fa6b7546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bae3d0d9746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2c33231f141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e23242cbc41b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333e28e6342e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735a4aef748b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F565983D-FD6D-4E91-9DCA-DD046754F96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926C78A6-C9CD-4935-A269-E7E78CD91A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9ED111B-ADC9-4F0A-B9AC-F8144B85F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1C9AB45-9A46-4482-9891-410E4BB95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3B70D153-B32B-4AE1-8804-C0B11D386A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939DC308-45B4-47D9-93BF-707701A84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847BE1B8-B75E-4010-BC01-4A3713E94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80C0CDD6-B444-45AD-A87F-3484407F38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38BCFA5-41EF-49A4-B4AC-5AA8355BB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A69B419C-7C20-4FC2-8A93-E91EE45745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C2C2DCB-B62C-498E-BF74-07A41EA0FF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E3829421-681D-4E1A-B95D-DC88CFA282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6BBF981F-7BF1-410E-B3D3-C828C3E5B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05796506-93B4-4A8E-A9A8-22B4DA67CD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179FAF5-064C-4573-A3FD-579B0F0E8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6E17ADD1-ED44-4AC7-A1FD-336D842AA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7A2E49DC-5608-41D4-BD21-7D6F06DF7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AD9F6F5-153F-4528-8DD0-4EA341757A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9FB327E-53EB-47E9-8B7C-D2ECEE1887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45AE0AFF-655F-468C-8314-6334C8F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F2C5DA70-EC64-46B5-89C9-B08CF49BC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52121D81-049F-4845-B30A-8FE105EF57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BD2D9A64-F074-47B7-AFC0-2DE0135CC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A1AD9641-1BE7-456F-AB4A-148645ED3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AF4EFB9B-4996-41BD-920E-9BAD9950A2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91E7CA9A-399C-44A9-BE21-C77308265A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805EC0CB-973C-4628-8B7A-FF8B994C1E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137E6DA8-24BF-4CB7-ACEE-A107DF92C6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1438FB8C-3ED2-429E-8F5B-AC6B14F39A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BD87803C-BDA5-452A-B4E7-610C5D8A1E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b25cc8e3a43b0" /><Relationship Type="http://schemas.openxmlformats.org/officeDocument/2006/relationships/slideLayout" Target="/ppt/slideLayouts/slideLayout1.xml" Id="R4d15579aa5b74635" /><Relationship Type="http://schemas.openxmlformats.org/officeDocument/2006/relationships/slideLayout" Target="/ppt/slideLayouts/slideLayout2.xml" Id="R28c7fbe692ed4839" /><Relationship Type="http://schemas.openxmlformats.org/officeDocument/2006/relationships/slideLayout" Target="/ppt/slideLayouts/slideLayout3.xml" Id="R4a05011c78f44071" /><Relationship Type="http://schemas.openxmlformats.org/officeDocument/2006/relationships/slideLayout" Target="/ppt/slideLayouts/slideLayout4.xml" Id="Re28361627c514e4a" /><Relationship Type="http://schemas.openxmlformats.org/officeDocument/2006/relationships/slideLayout" Target="/ppt/slideLayouts/slideLayout5.xml" Id="R496da06a2e1b49db" /><Relationship Type="http://schemas.openxmlformats.org/officeDocument/2006/relationships/slideLayout" Target="/ppt/slideLayouts/slideLayout6.xml" Id="Rc7871f0a08c24ec8" /><Relationship Type="http://schemas.openxmlformats.org/officeDocument/2006/relationships/slideLayout" Target="/ppt/slideLayouts/slideLayout7.xml" Id="Re7db0ec30179471a" /><Relationship Type="http://schemas.openxmlformats.org/officeDocument/2006/relationships/slideLayout" Target="/ppt/slideLayouts/slideLayout8.xml" Id="R92731f3197b44a56" /><Relationship Type="http://schemas.openxmlformats.org/officeDocument/2006/relationships/slideLayout" Target="/ppt/slideLayouts/slideLayout9.xml" Id="Ra3d946b3e6e04cfd" /><Relationship Type="http://schemas.openxmlformats.org/officeDocument/2006/relationships/slideLayout" Target="/ppt/slideLayouts/slideLayout10.xml" Id="Rcce986692e7344a4" /><Relationship Type="http://schemas.openxmlformats.org/officeDocument/2006/relationships/slideLayout" Target="/ppt/slideLayouts/slideLayout11.xml" Id="R68220205808641e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681CAE0-6C7A-4225-8286-7DAE8271E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65FB817-68D7-463F-9C1E-72E7B53510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582090F-776E-4CEC-873A-92B0101C09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5579aa5b74635"/>
    <p:sldLayoutId xmlns:r="http://schemas.openxmlformats.org/officeDocument/2006/relationships" id="2147483650" r:id="R28c7fbe692ed4839"/>
    <p:sldLayoutId xmlns:r="http://schemas.openxmlformats.org/officeDocument/2006/relationships" id="2147483651" r:id="R4a05011c78f44071"/>
    <p:sldLayoutId xmlns:r="http://schemas.openxmlformats.org/officeDocument/2006/relationships" id="2147483652" r:id="Re28361627c514e4a"/>
    <p:sldLayoutId xmlns:r="http://schemas.openxmlformats.org/officeDocument/2006/relationships" id="2147483653" r:id="R496da06a2e1b49db"/>
    <p:sldLayoutId xmlns:r="http://schemas.openxmlformats.org/officeDocument/2006/relationships" id="2147483654" r:id="Rc7871f0a08c24ec8"/>
    <p:sldLayoutId xmlns:r="http://schemas.openxmlformats.org/officeDocument/2006/relationships" id="2147483655" r:id="Re7db0ec30179471a"/>
    <p:sldLayoutId xmlns:r="http://schemas.openxmlformats.org/officeDocument/2006/relationships" id="2147483656" r:id="R92731f3197b44a56"/>
    <p:sldLayoutId xmlns:r="http://schemas.openxmlformats.org/officeDocument/2006/relationships" id="2147483657" r:id="Ra3d946b3e6e04cfd"/>
    <p:sldLayoutId xmlns:r="http://schemas.openxmlformats.org/officeDocument/2006/relationships" id="2147483658" r:id="Rcce986692e7344a4"/>
    <p:sldLayoutId xmlns:r="http://schemas.openxmlformats.org/officeDocument/2006/relationships" id="2147483659" r:id="R68220205808641e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5136f108f48ed" /><Relationship Type="http://schemas.openxmlformats.org/officeDocument/2006/relationships/image" Target="/ppt/media/image.png" Id="R1e902053977f4da4" /><Relationship Type="http://schemas.openxmlformats.org/officeDocument/2006/relationships/image" Target="/ppt/media/image2.png" Id="Rf434b6c8d3c1471c" /><Relationship Type="http://schemas.openxmlformats.org/officeDocument/2006/relationships/notesSlide" Target="/ppt/notesSlides/notesSlide1.xml" Id="R0971b7623616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817d3ddbc47d2" /><Relationship Type="http://schemas.openxmlformats.org/officeDocument/2006/relationships/image" Target="/ppt/media/image2.png" Id="R893d9e3620c444f6" /><Relationship Type="http://schemas.openxmlformats.org/officeDocument/2006/relationships/image" Target="/ppt/media/image3.png" Id="R5db313502a6b45d3" /><Relationship Type="http://schemas.openxmlformats.org/officeDocument/2006/relationships/notesSlide" Target="/ppt/notesSlides/notesSlide2.xml" Id="R8dd98f65edb14a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5207f9715414c" /><Relationship Type="http://schemas.openxmlformats.org/officeDocument/2006/relationships/image" Target="/ppt/media/image4.png" Id="R484af5348e30465d" /><Relationship Type="http://schemas.openxmlformats.org/officeDocument/2006/relationships/notesSlide" Target="/ppt/notesSlides/notesSlide3.xml" Id="Rbab39dca913e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321c3811e4a81" /><Relationship Type="http://schemas.openxmlformats.org/officeDocument/2006/relationships/image" Target="/ppt/media/image2.png" Id="R0247cc7f59544737" /><Relationship Type="http://schemas.openxmlformats.org/officeDocument/2006/relationships/image" Target="/ppt/media/image4.png" Id="R617e3f20312b41c0" /><Relationship Type="http://schemas.openxmlformats.org/officeDocument/2006/relationships/notesSlide" Target="/ppt/notesSlides/notesSlide4.xml" Id="Rad67b0ae27464f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328c2ed6d43f1" /><Relationship Type="http://schemas.openxmlformats.org/officeDocument/2006/relationships/image" Target="/ppt/media/image2.png" Id="R839ff111da3d4e7a" /><Relationship Type="http://schemas.openxmlformats.org/officeDocument/2006/relationships/image" Target="/ppt/media/image4.png" Id="Rce584378ee2e4c83" /><Relationship Type="http://schemas.openxmlformats.org/officeDocument/2006/relationships/notesSlide" Target="/ppt/notesSlides/notesSlide5.xml" Id="Rcaf6f7cca4a540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1a4f03c24d9d" /><Relationship Type="http://schemas.openxmlformats.org/officeDocument/2006/relationships/image" Target="/ppt/media/image2.png" Id="Rded89107ffa740e4" /><Relationship Type="http://schemas.openxmlformats.org/officeDocument/2006/relationships/image" Target="/ppt/media/image4.png" Id="R32e44c2026da4ed5" /><Relationship Type="http://schemas.openxmlformats.org/officeDocument/2006/relationships/image" Target="/ppt/media/image5.png" Id="Rc8da46526faa4c8f" /><Relationship Type="http://schemas.openxmlformats.org/officeDocument/2006/relationships/notesSlide" Target="/ppt/notesSlides/notesSlide6.xml" Id="R7c2456a1b03b4d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614ba8ae241ee" /><Relationship Type="http://schemas.openxmlformats.org/officeDocument/2006/relationships/image" Target="/ppt/media/image2.png" Id="R2689b1e03d9a48e5" /><Relationship Type="http://schemas.openxmlformats.org/officeDocument/2006/relationships/image" Target="/ppt/media/image4.png" Id="R2776d2e260934fdf" /><Relationship Type="http://schemas.openxmlformats.org/officeDocument/2006/relationships/image" Target="/ppt/media/image6.png" Id="R0f5a67d390e9452e" /><Relationship Type="http://schemas.openxmlformats.org/officeDocument/2006/relationships/image" Target="/ppt/media/image7.png" Id="Re711f3f8581d4ccb" /><Relationship Type="http://schemas.openxmlformats.org/officeDocument/2006/relationships/notesSlide" Target="/ppt/notesSlides/notesSlide7.xml" Id="R1d36304b40e341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402ee4da94fb1" /><Relationship Type="http://schemas.openxmlformats.org/officeDocument/2006/relationships/image" Target="/ppt/media/image2.png" Id="R3474039d02bd4d1a" /><Relationship Type="http://schemas.openxmlformats.org/officeDocument/2006/relationships/image" Target="/ppt/media/image4.png" Id="Rbc0cdbbcf466471a" /><Relationship Type="http://schemas.openxmlformats.org/officeDocument/2006/relationships/image" Target="/ppt/media/image8.png" Id="Rd04a18f8f0404aee" /><Relationship Type="http://schemas.openxmlformats.org/officeDocument/2006/relationships/notesSlide" Target="/ppt/notesSlides/notesSlide8.xml" Id="R40fba2d6a5a244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19344304d4b2b" /><Relationship Type="http://schemas.openxmlformats.org/officeDocument/2006/relationships/image" Target="/ppt/media/image2.png" Id="R95c8f6eee6834b89" /><Relationship Type="http://schemas.openxmlformats.org/officeDocument/2006/relationships/image" Target="/ppt/media/image4.png" Id="R2223fae12fcd4b48" /><Relationship Type="http://schemas.openxmlformats.org/officeDocument/2006/relationships/notesSlide" Target="/ppt/notesSlides/notesSlide9.xml" Id="R5ba3de7f931f44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966c0dc064884" /><Relationship Type="http://schemas.openxmlformats.org/officeDocument/2006/relationships/image" Target="/ppt/media/image2.png" Id="R038d5046688f4b6e" /><Relationship Type="http://schemas.openxmlformats.org/officeDocument/2006/relationships/image" Target="/ppt/media/image4.png" Id="R1816912496444bdf" /><Relationship Type="http://schemas.openxmlformats.org/officeDocument/2006/relationships/notesSlide" Target="/ppt/notesSlides/notesSlide10.xml" Id="Re26f639c9d2c46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c8230ebd7403b" /><Relationship Type="http://schemas.openxmlformats.org/officeDocument/2006/relationships/image" Target="/ppt/media/image2.png" Id="R1d0c9e9a8a2442d1" /><Relationship Type="http://schemas.openxmlformats.org/officeDocument/2006/relationships/image" Target="/ppt/media/image4.png" Id="R96d770794c5c45e1" /><Relationship Type="http://schemas.openxmlformats.org/officeDocument/2006/relationships/image" Target="/ppt/media/image9.png" Id="R23577c4f987d48a0" /><Relationship Type="http://schemas.openxmlformats.org/officeDocument/2006/relationships/image" Target="/ppt/media/image10.png" Id="R47bdda3840d74eac" /><Relationship Type="http://schemas.openxmlformats.org/officeDocument/2006/relationships/notesSlide" Target="/ppt/notesSlides/notesSlide11.xml" Id="R63e5d4228d8b44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558c312544f20" /><Relationship Type="http://schemas.openxmlformats.org/officeDocument/2006/relationships/image" Target="/ppt/media/image2.png" Id="Ra3c598bb2bf44a5a" /><Relationship Type="http://schemas.openxmlformats.org/officeDocument/2006/relationships/image" Target="/ppt/media/image4.png" Id="R1d4082bce0134ffe" /><Relationship Type="http://schemas.openxmlformats.org/officeDocument/2006/relationships/image" Target="/ppt/media/image11.png" Id="Rb61699dcaee94a2f" /><Relationship Type="http://schemas.openxmlformats.org/officeDocument/2006/relationships/notesSlide" Target="/ppt/notesSlides/notesSlide12.xml" Id="R3fcd0c15946548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a12224045435f" /><Relationship Type="http://schemas.openxmlformats.org/officeDocument/2006/relationships/image" Target="/ppt/media/image2.png" Id="Ra9886d0e012a413b" /><Relationship Type="http://schemas.openxmlformats.org/officeDocument/2006/relationships/image" Target="/ppt/media/image4.png" Id="Rfe4088bc4aa040e1" /><Relationship Type="http://schemas.openxmlformats.org/officeDocument/2006/relationships/notesSlide" Target="/ppt/notesSlides/notesSlide13.xml" Id="R90e3c59435fc48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ed50c2375437f" /><Relationship Type="http://schemas.openxmlformats.org/officeDocument/2006/relationships/image" Target="/ppt/media/image2.png" Id="R39a7278fc61d4b72" /><Relationship Type="http://schemas.openxmlformats.org/officeDocument/2006/relationships/image" Target="/ppt/media/image4.png" Id="R932e210f49cf4b79" /><Relationship Type="http://schemas.openxmlformats.org/officeDocument/2006/relationships/notesSlide" Target="/ppt/notesSlides/notesSlide14.xml" Id="Rbd176300c95b44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4ae335a8a4474" /><Relationship Type="http://schemas.openxmlformats.org/officeDocument/2006/relationships/image" Target="/ppt/media/image2.png" Id="R9a5360ba82d74837" /><Relationship Type="http://schemas.openxmlformats.org/officeDocument/2006/relationships/image" Target="/ppt/media/image4.png" Id="Rd0e28afc07fa4280" /><Relationship Type="http://schemas.openxmlformats.org/officeDocument/2006/relationships/image" Target="/ppt/media/image12.png" Id="R6d40b4600e19472b" /><Relationship Type="http://schemas.openxmlformats.org/officeDocument/2006/relationships/image" Target="/ppt/media/image13.png" Id="Rd6d5ce7286ad489d" /><Relationship Type="http://schemas.openxmlformats.org/officeDocument/2006/relationships/notesSlide" Target="/ppt/notesSlides/notesSlide15.xml" Id="Redc237f53a2049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d3ba8521b4de7" /><Relationship Type="http://schemas.openxmlformats.org/officeDocument/2006/relationships/image" Target="/ppt/media/image2.png" Id="Ree68e26d4efc41e5" /><Relationship Type="http://schemas.openxmlformats.org/officeDocument/2006/relationships/image" Target="/ppt/media/image14.png" Id="R804ef4b4cec74a5d" /><Relationship Type="http://schemas.openxmlformats.org/officeDocument/2006/relationships/notesSlide" Target="/ppt/notesSlides/notesSlide16.xml" Id="Ra9111f3e34634f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B157B577-452A-418E-86C3-C79D8C4D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00" y="2902694"/>
            <a:ext cx="8760000" cy="200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>
                <a:latin typeface="Arial"/>
                <a:ea typeface="Arial"/>
                <a:cs typeface="Arial"/>
              </a:defRPr>
            </a:pPr>
            <a:r>
              <a:rPr sz="1800">
                <a:latin typeface="Arial"/>
                <a:ea typeface="Arial"/>
                <a:cs typeface="Arial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>
                <a:latin typeface="Arial"/>
                <a:ea typeface="Arial"/>
                <a:cs typeface="Arial"/>
              </a:defRPr>
            </a:pPr>
            <a:r>
              <a:rPr sz="1800">
                <a:latin typeface="Arial"/>
                <a:ea typeface="Arial"/>
                <a:cs typeface="Arial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>
                <a:latin typeface="Arial"/>
                <a:ea typeface="Arial"/>
                <a:cs typeface="Arial"/>
              </a:defRPr>
            </a:pPr>
            <a:r>
              <a:rPr sz="1800">
                <a:latin typeface="Arial"/>
                <a:ea typeface="Arial"/>
                <a:cs typeface="Arial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C02EF3C0-6596-4E79-AD90-44FD53633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02053977f4da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6FB1E552-AC1F-46FB-9925-B60D2CE53B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34b6c8d3c1471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Cover details canvas">
            <a:extLst xmlns:a="http://schemas.openxmlformats.org/drawingml/2006/main">
              <a:ext uri="{FF2B5EF4-FFF2-40B4-BE49-F238E27FC236}">
                <a16:creationId xmlns:a16="http://schemas.microsoft.com/office/drawing/2014/main" id="{B00F9C70-FE45-42EF-A4C3-D69774D0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15578"/>
            <a:ext cx="9144000" cy="2376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8" name="Team Details">
            <a:extLst xmlns:a="http://schemas.openxmlformats.org/drawingml/2006/main">
              <a:ext uri="{FF2B5EF4-FFF2-40B4-BE49-F238E27FC236}">
                <a16:creationId xmlns:a16="http://schemas.microsoft.com/office/drawing/2014/main" id="{B43215DB-410A-4BEB-AAE5-7273D26A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05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1E"/>
                </a:solidFill>
                <a:latin typeface="Arial"/>
                <a:ea typeface="Arial"/>
                <a:cs typeface="Arial"/>
              </a:rPr>
              <a:t>Team Details</a:t>
            </a:r>
          </a:p>
        </p:txBody>
      </p:sp>
      <p:sp>
        <p:nvSpPr>
          <p:cNvPr id="59" name="Team name">
            <a:extLst xmlns:a="http://schemas.openxmlformats.org/drawingml/2006/main">
              <a:ext uri="{FF2B5EF4-FFF2-40B4-BE49-F238E27FC236}">
                <a16:creationId xmlns:a16="http://schemas.microsoft.com/office/drawing/2014/main" id="{6E0491A5-12BB-4C7A-8796-2BC3F87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32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Team name:</a:t>
            </a:r>
          </a:p>
        </p:txBody>
      </p:sp>
      <p:sp>
        <p:nvSpPr>
          <p:cNvPr id="60" name="Team leader">
            <a:extLst xmlns:a="http://schemas.openxmlformats.org/drawingml/2006/main">
              <a:ext uri="{FF2B5EF4-FFF2-40B4-BE49-F238E27FC236}">
                <a16:creationId xmlns:a16="http://schemas.microsoft.com/office/drawing/2014/main" id="{340913CA-D935-4CF4-B264-35AFED3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Team leader: Jayesh Rajani</a:t>
            </a:r>
          </a:p>
        </p:txBody>
      </p:sp>
      <p:sp>
        <p:nvSpPr>
          <p:cNvPr id="61" name="Problem statement">
            <a:extLst xmlns:a="http://schemas.openxmlformats.org/drawingml/2006/main">
              <a:ext uri="{FF2B5EF4-FFF2-40B4-BE49-F238E27FC236}">
                <a16:creationId xmlns:a16="http://schemas.microsoft.com/office/drawing/2014/main" id="{24AA24A8-AB9C-41B1-84B9-CAF1AED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048125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Problem statement: Fast, local crop triage for farmers who cannot wait for an agronomist.</a:t>
            </a:r>
          </a:p>
        </p:txBody>
      </p:sp>
      <p:sp>
        <p:nvSpPr>
          <p:cNvPr id="62" name="Cover tagline">
            <a:extLst xmlns:a="http://schemas.openxmlformats.org/drawingml/2006/main">
              <a:ext uri="{FF2B5EF4-FFF2-40B4-BE49-F238E27FC236}">
                <a16:creationId xmlns:a16="http://schemas.microsoft.com/office/drawing/2014/main" id="{B59F04D0-07BF-4C7A-B0CB-2485B1B2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767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Your crop can’t talk. We listen anyway.</a:t>
            </a:r>
          </a:p>
        </p:txBody>
      </p:sp>
    </p:spTree>
    <p:extLst>
      <p:ext uri="{BB962C8B-B14F-4D97-AF65-F5344CB8AC3E}">
        <p14:creationId xmlns:p14="http://schemas.microsoft.com/office/powerpoint/2010/main" val="210821524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DDEE1092-E084-4DF3-A807-668FD0444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3d9e3620c444f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4AF9B8FF-7E9E-4DAE-8FA6-B5736FEE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AA53B48A-1083-476E-983D-260D4B24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100">
                <a:solidFill>
                  <a:schemeClr val="lt1"/>
                </a:solidFill>
                <a:latin typeface="Arial"/>
                <a:ea typeface="Arial"/>
                <a:cs typeface="Arial"/>
              </a:rPr>
              <a:t>Note:</a:t>
            </a:r>
            <a:r>
              <a:rPr sz="1100">
                <a:solidFill>
                  <a:schemeClr val="lt1"/>
                </a:solidFill>
                <a:latin typeface="Arial"/>
                <a:ea typeface="Arial"/>
                <a:cs typeface="Arial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br>
              <a:rPr sz="110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sz="1100">
                <a:solidFill>
                  <a:schemeClr val="lt1"/>
                </a:solidFill>
                <a:latin typeface="Arial"/>
                <a:ea typeface="Arial"/>
                <a:cs typeface="Arial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B6278B91-2F9B-407C-BE84-3B11CB5E3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313502a6b45d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203" y="1194675"/>
            <a:ext cx="3604250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16515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E64AEE11-01CB-4A18-88E9-29FF9D2FCB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af5348e30465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0F6DAE46-08F3-4109-A745-2D0A119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7F3A441A-8CB9-439D-BF0B-9F70A83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Idea headline">
            <a:extLst xmlns:a="http://schemas.openxmlformats.org/drawingml/2006/main">
              <a:ext uri="{FF2B5EF4-FFF2-40B4-BE49-F238E27FC236}">
                <a16:creationId xmlns:a16="http://schemas.microsoft.com/office/drawing/2014/main" id="{75A865BE-7B54-4417-8DD7-3426EEBB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A second opinion for a sick crop—built from more than a picture.</a:t>
            </a:r>
          </a:p>
        </p:txBody>
      </p:sp>
      <p:sp>
        <p:nvSpPr>
          <p:cNvPr id="73" name="Idea detail">
            <a:extLst xmlns:a="http://schemas.openxmlformats.org/drawingml/2006/main">
              <a:ext uri="{FF2B5EF4-FFF2-40B4-BE49-F238E27FC236}">
                <a16:creationId xmlns:a16="http://schemas.microsoft.com/office/drawing/2014/main" id="{DACCF408-C0FC-47CB-A9F4-6A4D8131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RootCause combines a leaf photo, a spoken symptom note and field conditions to surface likely causes, explain the evidence, show what is missing and suggest safe next steps.</a:t>
            </a:r>
          </a:p>
        </p:txBody>
      </p:sp>
      <p:sp>
        <p:nvSpPr>
          <p:cNvPr id="74" name="Idea closer">
            <a:extLst xmlns:a="http://schemas.openxmlformats.org/drawingml/2006/main">
              <a:ext uri="{FF2B5EF4-FFF2-40B4-BE49-F238E27FC236}">
                <a16:creationId xmlns:a16="http://schemas.microsoft.com/office/drawing/2014/main" id="{22015C00-9F2D-4898-BC9E-3CE03063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Triage, not a verdict.</a:t>
            </a:r>
          </a:p>
        </p:txBody>
      </p:sp>
      <p:sp>
        <p:nvSpPr>
          <p:cNvPr id="75" name="Idea caveat">
            <a:extLst xmlns:a="http://schemas.openxmlformats.org/drawingml/2006/main">
              <a:ext uri="{FF2B5EF4-FFF2-40B4-BE49-F238E27FC236}">
                <a16:creationId xmlns:a16="http://schemas.microsoft.com/office/drawing/2014/main" id="{56625FBE-A6C8-423C-B4DE-A9A6BA91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5A"/>
                </a:solidFill>
                <a:latin typeface="Arial"/>
                <a:ea typeface="Arial"/>
                <a:cs typeface="Arial"/>
              </a:rPr>
              <a:t>The farmer keeps the final say—and the KVK expert stays in the loop.</a:t>
            </a:r>
          </a:p>
        </p:txBody>
      </p:sp>
    </p:spTree>
    <p:extLst>
      <p:ext uri="{BB962C8B-B14F-4D97-AF65-F5344CB8AC3E}">
        <p14:creationId xmlns:p14="http://schemas.microsoft.com/office/powerpoint/2010/main" val="5205303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E6F60CD8-7B5D-4034-A66D-57C4BD2AB3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47cc7f5954473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EC1DF6A4-51E9-450F-BBB4-0A641F106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e3f20312b41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25B53106-22C2-4296-B976-567406E4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477B7C9F-945D-4FF3-BA63-24C6AE34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13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The opportunity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Opportunity label 0">
            <a:extLst xmlns:a="http://schemas.openxmlformats.org/drawingml/2006/main">
              <a:ext uri="{FF2B5EF4-FFF2-40B4-BE49-F238E27FC236}">
                <a16:creationId xmlns:a16="http://schemas.microsoft.com/office/drawing/2014/main" id="{8F61C2C4-570B-40AC-9566-A6953EEA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81" name="Opportunity body 0">
            <a:extLst xmlns:a="http://schemas.openxmlformats.org/drawingml/2006/main">
              <a:ext uri="{FF2B5EF4-FFF2-40B4-BE49-F238E27FC236}">
                <a16:creationId xmlns:a16="http://schemas.microsoft.com/office/drawing/2014/main" id="{7E88FA0F-C390-4C47-AE25-539D615B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7167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Photo + voice + weather + satellite + labelled references.</a:t>
            </a:r>
          </a:p>
        </p:txBody>
      </p:sp>
      <p:sp>
        <p:nvSpPr>
          <p:cNvPr id="82" name="Opportunity divider 0">
            <a:extLst xmlns:a="http://schemas.openxmlformats.org/drawingml/2006/main">
              <a:ext uri="{FF2B5EF4-FFF2-40B4-BE49-F238E27FC236}">
                <a16:creationId xmlns:a16="http://schemas.microsoft.com/office/drawing/2014/main" id="{C67339E5-5A56-4EE7-8414-89BA45BF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685925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3" name="Opportunity label 1">
            <a:extLst xmlns:a="http://schemas.openxmlformats.org/drawingml/2006/main">
              <a:ext uri="{FF2B5EF4-FFF2-40B4-BE49-F238E27FC236}">
                <a16:creationId xmlns:a16="http://schemas.microsoft.com/office/drawing/2014/main" id="{9491DA3D-95F5-4A38-843A-BA97FA4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668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4" name="Opportunity body 1">
            <a:extLst xmlns:a="http://schemas.openxmlformats.org/drawingml/2006/main">
              <a:ext uri="{FF2B5EF4-FFF2-40B4-BE49-F238E27FC236}">
                <a16:creationId xmlns:a16="http://schemas.microsoft.com/office/drawing/2014/main" id="{2B425E84-6637-4EAF-A92E-C9C8FE99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7167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Each cause earns a 0–100 fit with reasons for and against.</a:t>
            </a:r>
          </a:p>
        </p:txBody>
      </p:sp>
      <p:sp>
        <p:nvSpPr>
          <p:cNvPr id="85" name="Opportunity divider 1">
            <a:extLst xmlns:a="http://schemas.openxmlformats.org/drawingml/2006/main">
              <a:ext uri="{FF2B5EF4-FFF2-40B4-BE49-F238E27FC236}">
                <a16:creationId xmlns:a16="http://schemas.microsoft.com/office/drawing/2014/main" id="{C09F344C-C509-44AA-AE1D-806A700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685925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6" name="Opportunity label 2">
            <a:extLst xmlns:a="http://schemas.openxmlformats.org/drawingml/2006/main">
              <a:ext uri="{FF2B5EF4-FFF2-40B4-BE49-F238E27FC236}">
                <a16:creationId xmlns:a16="http://schemas.microsoft.com/office/drawing/2014/main" id="{3BEED970-5C38-4522-94A8-C15FB8F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668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87" name="Opportunity body 2">
            <a:extLst xmlns:a="http://schemas.openxmlformats.org/drawingml/2006/main">
              <a:ext uri="{FF2B5EF4-FFF2-40B4-BE49-F238E27FC236}">
                <a16:creationId xmlns:a16="http://schemas.microsoft.com/office/drawing/2014/main" id="{326BDFB5-29D8-414E-8187-2E77385A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7167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Weak fits stay hidden; generic actives and an expert check guide treatment.</a:t>
            </a:r>
          </a:p>
        </p:txBody>
      </p:sp>
      <p:sp>
        <p:nvSpPr>
          <p:cNvPr id="88" name="USP">
            <a:extLst xmlns:a="http://schemas.openxmlformats.org/drawingml/2006/main">
              <a:ext uri="{FF2B5EF4-FFF2-40B4-BE49-F238E27FC236}">
                <a16:creationId xmlns:a16="http://schemas.microsoft.com/office/drawing/2014/main" id="{DA60E507-8483-4412-9966-E42A616A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The sky, the soil canopy and the farmer’s own words all get a vote.</a:t>
            </a:r>
          </a:p>
        </p:txBody>
      </p:sp>
      <p:sp>
        <p:nvSpPr>
          <p:cNvPr id="89" name="Opportunity qualifier">
            <a:extLst xmlns:a="http://schemas.openxmlformats.org/drawingml/2006/main">
              <a:ext uri="{FF2B5EF4-FFF2-40B4-BE49-F238E27FC236}">
                <a16:creationId xmlns:a16="http://schemas.microsoft.com/office/drawing/2014/main" id="{060DFF60-663F-4E44-9CAC-71ED3053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5A"/>
                </a:solidFill>
                <a:latin typeface="Arial"/>
                <a:ea typeface="Arial"/>
                <a:cs typeface="Arial"/>
              </a:rPr>
              <a:t>A local-language second opinion; a nearby shop only after the evidence and safety guidance.</a:t>
            </a:r>
          </a:p>
        </p:txBody>
      </p:sp>
    </p:spTree>
    <p:extLst>
      <p:ext uri="{BB962C8B-B14F-4D97-AF65-F5344CB8AC3E}">
        <p14:creationId xmlns:p14="http://schemas.microsoft.com/office/powerpoint/2010/main" val="15545894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331E6662-8C15-4C70-BC44-E28060CF6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9ff111da3d4e7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76CA7BBD-7429-4141-8F61-5C61971D2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84378ee2e4c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34CD4087-4883-4252-8790-6B623FE3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B0721F2B-8851-457E-86FA-8041003D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What RootCause does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Feature number 0">
            <a:extLst xmlns:a="http://schemas.openxmlformats.org/drawingml/2006/main">
              <a:ext uri="{FF2B5EF4-FFF2-40B4-BE49-F238E27FC236}">
                <a16:creationId xmlns:a16="http://schemas.microsoft.com/office/drawing/2014/main" id="{1917C67C-69DF-4566-A48F-0EC93AC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90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9" name="Feature heading 0">
            <a:extLst xmlns:a="http://schemas.openxmlformats.org/drawingml/2006/main">
              <a:ext uri="{FF2B5EF4-FFF2-40B4-BE49-F238E27FC236}">
                <a16:creationId xmlns:a16="http://schemas.microsoft.com/office/drawing/2014/main" id="{CA832C48-52C2-4523-818D-8A167E52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24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90" name="Feature description 0">
            <a:extLst xmlns:a="http://schemas.openxmlformats.org/drawingml/2006/main">
              <a:ext uri="{FF2B5EF4-FFF2-40B4-BE49-F238E27FC236}">
                <a16:creationId xmlns:a16="http://schemas.microsoft.com/office/drawing/2014/main" id="{BF16A357-4E71-4DBC-89D5-1759BE7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8117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Photo-first. Speak in Hindi or English. Confirm the crop only when needed.</a:t>
            </a:r>
          </a:p>
        </p:txBody>
      </p:sp>
      <p:sp>
        <p:nvSpPr>
          <p:cNvPr id="91" name="Feature divider 0">
            <a:extLst xmlns:a="http://schemas.openxmlformats.org/drawingml/2006/main">
              <a:ext uri="{FF2B5EF4-FFF2-40B4-BE49-F238E27FC236}">
                <a16:creationId xmlns:a16="http://schemas.microsoft.com/office/drawing/2014/main" id="{4C881A05-D083-45CA-B8FE-96B74E11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2" name="Feature number 1">
            <a:extLst xmlns:a="http://schemas.openxmlformats.org/drawingml/2006/main">
              <a:ext uri="{FF2B5EF4-FFF2-40B4-BE49-F238E27FC236}">
                <a16:creationId xmlns:a16="http://schemas.microsoft.com/office/drawing/2014/main" id="{9BEF8D87-2213-486F-A79B-6A3CAFD4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590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3" name="Feature heading 1">
            <a:extLst xmlns:a="http://schemas.openxmlformats.org/drawingml/2006/main">
              <a:ext uri="{FF2B5EF4-FFF2-40B4-BE49-F238E27FC236}">
                <a16:creationId xmlns:a16="http://schemas.microsoft.com/office/drawing/2014/main" id="{B364B5C3-11ED-4089-B816-7F6E4A6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94" name="Feature description 1">
            <a:extLst xmlns:a="http://schemas.openxmlformats.org/drawingml/2006/main">
              <a:ext uri="{FF2B5EF4-FFF2-40B4-BE49-F238E27FC236}">
                <a16:creationId xmlns:a16="http://schemas.microsoft.com/office/drawing/2014/main" id="{7B336E83-C6AD-4940-B19B-60106A4A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Cross-check the leaf with references, local weather and Sentinel-2.</a:t>
            </a:r>
          </a:p>
        </p:txBody>
      </p:sp>
      <p:sp>
        <p:nvSpPr>
          <p:cNvPr id="95" name="Feature divider 1">
            <a:extLst xmlns:a="http://schemas.openxmlformats.org/drawingml/2006/main">
              <a:ext uri="{FF2B5EF4-FFF2-40B4-BE49-F238E27FC236}">
                <a16:creationId xmlns:a16="http://schemas.microsoft.com/office/drawing/2014/main" id="{C2166F95-A420-4B05-B603-20E2E57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6" name="Feature number 2">
            <a:extLst xmlns:a="http://schemas.openxmlformats.org/drawingml/2006/main">
              <a:ext uri="{FF2B5EF4-FFF2-40B4-BE49-F238E27FC236}">
                <a16:creationId xmlns:a16="http://schemas.microsoft.com/office/drawing/2014/main" id="{E3E7E9C3-91FA-431B-913D-6D1F0CF2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590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7" name="Feature heading 2">
            <a:extLst xmlns:a="http://schemas.openxmlformats.org/drawingml/2006/main">
              <a:ext uri="{FF2B5EF4-FFF2-40B4-BE49-F238E27FC236}">
                <a16:creationId xmlns:a16="http://schemas.microsoft.com/office/drawing/2014/main" id="{7D645EEE-4963-4F3E-982E-68248F2E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8" name="Feature description 2">
            <a:extLst xmlns:a="http://schemas.openxmlformats.org/drawingml/2006/main">
              <a:ext uri="{FF2B5EF4-FFF2-40B4-BE49-F238E27FC236}">
                <a16:creationId xmlns:a16="http://schemas.microsoft.com/office/drawing/2014/main" id="{0BF13B5A-A2D0-4B48-A0D8-3AB935A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See likely causes, urgency, safe next steps and nearby agri shops.</a:t>
            </a:r>
          </a:p>
        </p:txBody>
      </p:sp>
    </p:spTree>
    <p:extLst>
      <p:ext uri="{BB962C8B-B14F-4D97-AF65-F5344CB8AC3E}">
        <p14:creationId xmlns:p14="http://schemas.microsoft.com/office/powerpoint/2010/main" val="6285139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D7897F32-DACF-4084-BEC0-FD19B0654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d89107ffa740e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7409C551-BA91-48D1-81A1-F008A841E2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44c2026da4ed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64769806-1531-4D44-B954-423E308B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E142C40B-89A5-4080-BCE4-9A55DFE6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From a leaf photo to a careful next step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1AFB7B5-7D7F-4A44-B3D3-90808E913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a46526faa4c8f"/>
          <a:stretch xmlns:a="http://schemas.openxmlformats.org/drawingml/2006/main"/>
        </p:blipFill>
        <p:spPr>
          <a:xfrm xmlns:a="http://schemas.openxmlformats.org/drawingml/2006/main">
            <a:off x="801234" y="1295400"/>
            <a:ext cx="2283732" cy="3619500"/>
          </a:xfrm>
          <a:prstGeom xmlns:a="http://schemas.openxmlformats.org/drawingml/2006/main" prst="rect">
            <a:avLst/>
          </a:prstGeom>
        </p:spPr>
      </p:pic>
      <p:sp>
        <p:nvSpPr>
          <p:cNvPr id="97" name="Flow number 0">
            <a:extLst xmlns:a="http://schemas.openxmlformats.org/drawingml/2006/main">
              <a:ext uri="{FF2B5EF4-FFF2-40B4-BE49-F238E27FC236}">
                <a16:creationId xmlns:a16="http://schemas.microsoft.com/office/drawing/2014/main" id="{FFF6AD00-462A-470F-B277-0EDFCD8B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95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8" name="Flow heading 0">
            <a:extLst xmlns:a="http://schemas.openxmlformats.org/drawingml/2006/main">
              <a:ext uri="{FF2B5EF4-FFF2-40B4-BE49-F238E27FC236}">
                <a16:creationId xmlns:a16="http://schemas.microsoft.com/office/drawing/2014/main" id="{D8ACAAAC-1C7E-4BB1-ADB9-A2FD4C1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99" name="Flow text 0">
            <a:extLst xmlns:a="http://schemas.openxmlformats.org/drawingml/2006/main">
              <a:ext uri="{FF2B5EF4-FFF2-40B4-BE49-F238E27FC236}">
                <a16:creationId xmlns:a16="http://schemas.microsoft.com/office/drawing/2014/main" id="{C25B9946-73DE-44C1-973F-F8496CB8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430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Photo + voice; location optional.</a:t>
            </a:r>
          </a:p>
        </p:txBody>
      </p:sp>
      <p:sp>
        <p:nvSpPr>
          <p:cNvPr id="100" name="Flow number 1">
            <a:extLst xmlns:a="http://schemas.openxmlformats.org/drawingml/2006/main">
              <a:ext uri="{FF2B5EF4-FFF2-40B4-BE49-F238E27FC236}">
                <a16:creationId xmlns:a16="http://schemas.microsoft.com/office/drawing/2014/main" id="{60408CB3-49EE-4045-B654-8D7CD05B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955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1" name="Flow heading 1">
            <a:extLst xmlns:a="http://schemas.openxmlformats.org/drawingml/2006/main">
              <a:ext uri="{FF2B5EF4-FFF2-40B4-BE49-F238E27FC236}">
                <a16:creationId xmlns:a16="http://schemas.microsoft.com/office/drawing/2014/main" id="{D497BBD3-3335-4C09-9ADF-7A36239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102" name="Flow text 1">
            <a:extLst xmlns:a="http://schemas.openxmlformats.org/drawingml/2006/main">
              <a:ext uri="{FF2B5EF4-FFF2-40B4-BE49-F238E27FC236}">
                <a16:creationId xmlns:a16="http://schemas.microsoft.com/office/drawing/2014/main" id="{29AC90B9-317F-4C95-A09B-DB472B68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431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Crop ID asks when confidence is low.</a:t>
            </a:r>
          </a:p>
        </p:txBody>
      </p:sp>
      <p:sp>
        <p:nvSpPr>
          <p:cNvPr id="103" name="Flow number 2">
            <a:extLst xmlns:a="http://schemas.openxmlformats.org/drawingml/2006/main">
              <a:ext uri="{FF2B5EF4-FFF2-40B4-BE49-F238E27FC236}">
                <a16:creationId xmlns:a16="http://schemas.microsoft.com/office/drawing/2014/main" id="{6CB05EC9-E4C9-4B17-A1FE-03B891F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95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4" name="Flow heading 2">
            <a:extLst xmlns:a="http://schemas.openxmlformats.org/drawingml/2006/main">
              <a:ext uri="{FF2B5EF4-FFF2-40B4-BE49-F238E27FC236}">
                <a16:creationId xmlns:a16="http://schemas.microsoft.com/office/drawing/2014/main" id="{9F8CAF63-58D4-47CC-845F-D6068141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CROSS-CHECK</a:t>
            </a:r>
          </a:p>
        </p:txBody>
      </p:sp>
      <p:sp>
        <p:nvSpPr>
          <p:cNvPr id="105" name="Flow text 2">
            <a:extLst xmlns:a="http://schemas.openxmlformats.org/drawingml/2006/main">
              <a:ext uri="{FF2B5EF4-FFF2-40B4-BE49-F238E27FC236}">
                <a16:creationId xmlns:a16="http://schemas.microsoft.com/office/drawing/2014/main" id="{9B62C021-C74D-46BD-B71F-62CA1F5B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432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Weather, satellite, references and vision run together.</a:t>
            </a:r>
          </a:p>
        </p:txBody>
      </p:sp>
      <p:sp>
        <p:nvSpPr>
          <p:cNvPr id="106" name="Flow number 3">
            <a:extLst xmlns:a="http://schemas.openxmlformats.org/drawingml/2006/main">
              <a:ext uri="{FF2B5EF4-FFF2-40B4-BE49-F238E27FC236}">
                <a16:creationId xmlns:a16="http://schemas.microsoft.com/office/drawing/2014/main" id="{032CF7DA-877E-46FD-ACBB-D80E3ADB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957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7" name="Flow heading 3">
            <a:extLst xmlns:a="http://schemas.openxmlformats.org/drawingml/2006/main">
              <a:ext uri="{FF2B5EF4-FFF2-40B4-BE49-F238E27FC236}">
                <a16:creationId xmlns:a16="http://schemas.microsoft.com/office/drawing/2014/main" id="{7288FFB3-17A2-4F1C-8B57-C4F20C7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08" name="Flow text 3">
            <a:extLst xmlns:a="http://schemas.openxmlformats.org/drawingml/2006/main">
              <a:ext uri="{FF2B5EF4-FFF2-40B4-BE49-F238E27FC236}">
                <a16:creationId xmlns:a16="http://schemas.microsoft.com/office/drawing/2014/main" id="{5E11A8D4-8EFD-47F5-BA10-011C2771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433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Ranked causes, next steps, treatment and shops.</a:t>
            </a:r>
          </a:p>
        </p:txBody>
      </p:sp>
      <p:sp>
        <p:nvSpPr>
          <p:cNvPr id="109" name="Flow guardrail">
            <a:extLst xmlns:a="http://schemas.openxmlformats.org/drawingml/2006/main">
              <a:ext uri="{FF2B5EF4-FFF2-40B4-BE49-F238E27FC236}">
                <a16:creationId xmlns:a16="http://schemas.microsoft.com/office/drawing/2014/main" id="{AEC26665-E3C8-4B0A-B82B-BA52C7F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67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35A"/>
                </a:solidFill>
                <a:latin typeface="Arial"/>
                <a:ea typeface="Arial"/>
                <a:cs typeface="Arial"/>
              </a:rPr>
              <a:t>No signal is treated as normal when it was not checked.</a:t>
            </a:r>
          </a:p>
        </p:txBody>
      </p:sp>
    </p:spTree>
    <p:extLst>
      <p:ext uri="{BB962C8B-B14F-4D97-AF65-F5344CB8AC3E}">
        <p14:creationId xmlns:p14="http://schemas.microsoft.com/office/powerpoint/2010/main" val="2936273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FD4F713C-732E-45C7-95BF-DE5E03BFD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89b1e03d9a48e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600C0DEE-426A-454E-98EE-5FEEA75D2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6d2e260934f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FC6B23A0-A5F5-478A-86FD-537CF258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E6E3C89A-BB11-4165-AEB9-9BBB370F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Designed around the farmer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45F0189-8603-45F4-8532-CFA7EDC3B0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a67d390e9452e"/>
          <a:stretch xmlns:a="http://schemas.openxmlformats.org/drawingml/2006/main"/>
        </p:blipFill>
        <p:spPr>
          <a:xfrm xmlns:a="http://schemas.openxmlformats.org/drawingml/2006/main">
            <a:off x="469672" y="1304925"/>
            <a:ext cx="2489656" cy="3619500"/>
          </a:xfrm>
          <a:prstGeom xmlns:a="http://schemas.openxmlformats.org/drawingml/2006/main" prst="rect">
            <a:avLst/>
          </a:prstGeom>
        </p:spPr>
      </p:pic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134D87B-F9E3-4036-9695-31DA43FFB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1f3f8581d4ccb"/>
          <a:stretch xmlns:a="http://schemas.openxmlformats.org/drawingml/2006/main"/>
        </p:blipFill>
        <p:spPr>
          <a:xfrm xmlns:a="http://schemas.openxmlformats.org/drawingml/2006/main">
            <a:off x="3732848" y="1590675"/>
            <a:ext cx="4450080" cy="2781300"/>
          </a:xfrm>
          <a:prstGeom xmlns:a="http://schemas.openxmlformats.org/drawingml/2006/main" prst="rect">
            <a:avLst/>
          </a:prstGeom>
        </p:spPr>
      </p:pic>
      <p:sp>
        <p:nvSpPr>
          <p:cNvPr id="106" name="Use case caption">
            <a:extLst xmlns:a="http://schemas.openxmlformats.org/drawingml/2006/main">
              <a:ext uri="{FF2B5EF4-FFF2-40B4-BE49-F238E27FC236}">
                <a16:creationId xmlns:a16="http://schemas.microsoft.com/office/drawing/2014/main" id="{95B5EBF6-B854-4BD2-B0C7-AEC7260F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19600"/>
            <a:ext cx="519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FROM FIRST PHOTO TO PRACTICAL NEXT STEP</a:t>
            </a:r>
          </a:p>
        </p:txBody>
      </p:sp>
      <p:sp>
        <p:nvSpPr>
          <p:cNvPr id="107" name="Use case sentence">
            <a:extLst xmlns:a="http://schemas.openxmlformats.org/drawingml/2006/main">
              <a:ext uri="{FF2B5EF4-FFF2-40B4-BE49-F238E27FC236}">
                <a16:creationId xmlns:a16="http://schemas.microsoft.com/office/drawing/2014/main" id="{41B7D02F-3F2A-4A06-9A4D-1A0E9B1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6577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5A"/>
                </a:solidFill>
                <a:latin typeface="Arial"/>
                <a:ea typeface="Arial"/>
                <a:cs typeface="Arial"/>
              </a:rPr>
              <a:t>Optional location. Spoken or typed. Clear next steps.</a:t>
            </a:r>
          </a:p>
        </p:txBody>
      </p:sp>
    </p:spTree>
    <p:extLst>
      <p:ext uri="{BB962C8B-B14F-4D97-AF65-F5344CB8AC3E}">
        <p14:creationId xmlns:p14="http://schemas.microsoft.com/office/powerpoint/2010/main" val="790275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7D85E708-DE1A-4187-ADD3-5450C1E65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74039d02bd4d1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169E6BD2-8150-4063-A108-24538B6D2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cdbbcf466471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AB1F7D4E-78A2-4F3D-8371-79BBEAC1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B1E84736-E566-43C0-A687-903BC3CD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System architecture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841B198-0B31-4687-93C5-3CAB70366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a18f8f0404aee"/>
          <a:stretch xmlns:a="http://schemas.openxmlformats.org/drawingml/2006/main"/>
        </p:blipFill>
        <p:spPr>
          <a:xfrm xmlns:a="http://schemas.openxmlformats.org/drawingml/2006/main">
            <a:off x="1599599" y="1219200"/>
            <a:ext cx="5944802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694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77482876-5F6F-4BDE-A875-8B4F17E62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c8f6eee6834b8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42A6E494-5AA3-4ACB-A6C3-58B70AB5BA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3fae12fcd4b4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F5728CD3-FD73-4DAF-A64D-FBF56CDD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4EAD77C0-DD07-46CF-9D1D-83F4B638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Technology stack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Tech group 0">
            <a:extLst xmlns:a="http://schemas.openxmlformats.org/drawingml/2006/main">
              <a:ext uri="{FF2B5EF4-FFF2-40B4-BE49-F238E27FC236}">
                <a16:creationId xmlns:a16="http://schemas.microsoft.com/office/drawing/2014/main" id="{10858F92-A3FC-4A2A-A1DD-43216F58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GOOGLE AI</a:t>
            </a:r>
          </a:p>
        </p:txBody>
      </p:sp>
      <p:sp>
        <p:nvSpPr>
          <p:cNvPr id="121" name="Tech stack 0">
            <a:extLst xmlns:a="http://schemas.openxmlformats.org/drawingml/2006/main">
              <a:ext uri="{FF2B5EF4-FFF2-40B4-BE49-F238E27FC236}">
                <a16:creationId xmlns:a16="http://schemas.microsoft.com/office/drawing/2014/main" id="{48999E70-7E5A-452F-AD30-145898A6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2476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Gemini Flash · triage and vision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Gemini Embedding 2 · references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Flash-Lite · transcription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Gemini TTS · read-aloud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Gemini + Maps · real shops</a:t>
            </a:r>
          </a:p>
        </p:txBody>
      </p:sp>
      <p:sp>
        <p:nvSpPr>
          <p:cNvPr id="122" name="Tech divider 0">
            <a:extLst xmlns:a="http://schemas.openxmlformats.org/drawingml/2006/main">
              <a:ext uri="{FF2B5EF4-FFF2-40B4-BE49-F238E27FC236}">
                <a16:creationId xmlns:a16="http://schemas.microsoft.com/office/drawing/2014/main" id="{010E3EB8-1E4D-41B5-BA39-285CE86A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049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3" name="Tech group 1">
            <a:extLst xmlns:a="http://schemas.openxmlformats.org/drawingml/2006/main">
              <a:ext uri="{FF2B5EF4-FFF2-40B4-BE49-F238E27FC236}">
                <a16:creationId xmlns:a16="http://schemas.microsoft.com/office/drawing/2014/main" id="{8E28B9BA-7031-4368-8235-8C3AE3F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954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GOOGLE CLOUD</a:t>
            </a:r>
          </a:p>
        </p:txBody>
      </p:sp>
      <p:sp>
        <p:nvSpPr>
          <p:cNvPr id="124" name="Tech stack 1">
            <a:extLst xmlns:a="http://schemas.openxmlformats.org/drawingml/2006/main">
              <a:ext uri="{FF2B5EF4-FFF2-40B4-BE49-F238E27FC236}">
                <a16:creationId xmlns:a16="http://schemas.microsoft.com/office/drawing/2014/main" id="{232ECD27-D167-4BA3-A07C-1A63BD1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47850"/>
            <a:ext cx="2476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Cloud Run · web + API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Cloud Build + Artifact Registry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Cloud Storage · FAISS library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Secret Manager · API keys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Earth Engine · Sentinel-2</a:t>
            </a:r>
          </a:p>
        </p:txBody>
      </p:sp>
      <p:sp>
        <p:nvSpPr>
          <p:cNvPr id="125" name="Tech divider 1">
            <a:extLst xmlns:a="http://schemas.openxmlformats.org/drawingml/2006/main">
              <a:ext uri="{FF2B5EF4-FFF2-40B4-BE49-F238E27FC236}">
                <a16:creationId xmlns:a16="http://schemas.microsoft.com/office/drawing/2014/main" id="{F7231627-F4CF-498A-8D6C-4F3A92E0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6" name="Tech group 2">
            <a:extLst xmlns:a="http://schemas.openxmlformats.org/drawingml/2006/main">
              <a:ext uri="{FF2B5EF4-FFF2-40B4-BE49-F238E27FC236}">
                <a16:creationId xmlns:a16="http://schemas.microsoft.com/office/drawing/2014/main" id="{4A85B2DE-2573-4275-99B5-35AA43DA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4954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FIELD + APP</a:t>
            </a:r>
          </a:p>
        </p:txBody>
      </p:sp>
      <p:sp>
        <p:nvSpPr>
          <p:cNvPr id="127" name="Tech stack 2">
            <a:extLst xmlns:a="http://schemas.openxmlformats.org/drawingml/2006/main">
              <a:ext uri="{FF2B5EF4-FFF2-40B4-BE49-F238E27FC236}">
                <a16:creationId xmlns:a16="http://schemas.microsoft.com/office/drawing/2014/main" id="{1793188C-18A8-4189-9789-3D00FBC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47850"/>
            <a:ext cx="2476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Open-Meteo · local weather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Cerebras · last-resort model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Next.js 16 · React 19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FastAPI · Pydantic schemas</a:t>
            </a:r>
          </a:p>
          <a:p xmlns:a="http://schemas.openxmlformats.org/drawingml/2006/main">
            <a:pPr algn="l">
              <a:defRPr sz="135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Five result languages</a:t>
            </a:r>
          </a:p>
        </p:txBody>
      </p:sp>
    </p:spTree>
    <p:extLst>
      <p:ext uri="{BB962C8B-B14F-4D97-AF65-F5344CB8AC3E}">
        <p14:creationId xmlns:p14="http://schemas.microsoft.com/office/powerpoint/2010/main" val="15972203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2E7A542C-0786-40B5-A98A-A2E55E5AA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8d5046688f4b6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8D04A186-FB03-44E3-A16C-0998988569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6912496444b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79276173-9304-4F26-87AA-01FB3F7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FE7B9746-341D-4342-B1B1-595A2C0A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Prototype cost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Cost headline">
            <a:extLst xmlns:a="http://schemas.openxmlformats.org/drawingml/2006/main">
              <a:ext uri="{FF2B5EF4-FFF2-40B4-BE49-F238E27FC236}">
                <a16:creationId xmlns:a16="http://schemas.microsoft.com/office/drawing/2014/main" id="{144D06AD-928D-47DD-8566-8B4EF0BE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144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≈ $5</a:t>
            </a:r>
          </a:p>
        </p:txBody>
      </p:sp>
      <p:sp>
        <p:nvSpPr>
          <p:cNvPr id="129" name="Prototype total">
            <a:extLst xmlns:a="http://schemas.openxmlformats.org/drawingml/2006/main">
              <a:ext uri="{FF2B5EF4-FFF2-40B4-BE49-F238E27FC236}">
                <a16:creationId xmlns:a16="http://schemas.microsoft.com/office/drawing/2014/main" id="{FD73A9AC-98FC-4C07-BE17-AF06A5C2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ESTIMATED PROTOTYPE CASH SPEND</a:t>
            </a:r>
          </a:p>
        </p:txBody>
      </p:sp>
      <p:sp>
        <p:nvSpPr>
          <p:cNvPr id="130" name="Cost stack">
            <a:extLst xmlns:a="http://schemas.openxmlformats.org/drawingml/2006/main">
              <a:ext uri="{FF2B5EF4-FFF2-40B4-BE49-F238E27FC236}">
                <a16:creationId xmlns:a16="http://schemas.microsoft.com/office/drawing/2014/main" id="{BCDF8AA8-A2B5-41A5-9B03-8EE581F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7715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Gemini prepaid credit: $5</a:t>
            </a:r>
          </a:p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Cloud Run: ~$0 at demo traffic (scale-to-zero)</a:t>
            </a:r>
          </a:p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Cloud Storage: &lt; $0.10/month</a:t>
            </a:r>
          </a:p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Earth Engine + Open-Meteo: $0 for this prototype use</a:t>
            </a:r>
          </a:p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Build, registry and secrets: within free allowances at demo volume</a:t>
            </a:r>
          </a:p>
        </p:txBody>
      </p:sp>
      <p:sp>
        <p:nvSpPr>
          <p:cNvPr id="131" name="Cost qualifier">
            <a:extLst xmlns:a="http://schemas.openxmlformats.org/drawingml/2006/main">
              <a:ext uri="{FF2B5EF4-FFF2-40B4-BE49-F238E27FC236}">
                <a16:creationId xmlns:a16="http://schemas.microsoft.com/office/drawing/2014/main" id="{01EF9D66-2EF8-431F-8E42-D47BC9A4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5A"/>
                </a:solidFill>
                <a:latin typeface="Arial"/>
                <a:ea typeface="Arial"/>
                <a:cs typeface="Arial"/>
              </a:rPr>
              <a:t>Planning estimate from the submission README; actual usage charges may vary.</a:t>
            </a:r>
          </a:p>
        </p:txBody>
      </p:sp>
    </p:spTree>
    <p:extLst>
      <p:ext uri="{BB962C8B-B14F-4D97-AF65-F5344CB8AC3E}">
        <p14:creationId xmlns:p14="http://schemas.microsoft.com/office/powerpoint/2010/main" val="1515625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DFF7586C-B27E-463A-B695-B11B25E89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0c9e9a8a2442d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A5B30177-FC9D-474A-BCE5-72D8A216DA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770794c5c45e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7DB99B03-0AF2-49AD-8D2D-9AE94A62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D453DB9F-DCA2-4839-878A-7C206311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A real product, not a mock-up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77ECE57-E5D1-4194-9748-E71585F98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77c4f987d48a0"/>
          <a:stretch xmlns:a="http://schemas.openxmlformats.org/drawingml/2006/main"/>
        </p:blipFill>
        <p:spPr>
          <a:xfrm xmlns:a="http://schemas.openxmlformats.org/drawingml/2006/main">
            <a:off x="497205" y="1466850"/>
            <a:ext cx="3901440" cy="2438400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FE4B67F-0DF9-40CC-AF86-6A926FC8D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dda3840d74eac"/>
          <a:stretch xmlns:a="http://schemas.openxmlformats.org/drawingml/2006/main"/>
        </p:blipFill>
        <p:spPr>
          <a:xfrm xmlns:a="http://schemas.openxmlformats.org/drawingml/2006/main">
            <a:off x="4735830" y="1466850"/>
            <a:ext cx="3901440" cy="2438400"/>
          </a:xfrm>
          <a:prstGeom xmlns:a="http://schemas.openxmlformats.org/drawingml/2006/main" prst="rect">
            <a:avLst/>
          </a:prstGeom>
        </p:spPr>
      </p:pic>
      <p:sp>
        <p:nvSpPr>
          <p:cNvPr id="138" name="Result caption">
            <a:extLst xmlns:a="http://schemas.openxmlformats.org/drawingml/2006/main">
              <a:ext uri="{FF2B5EF4-FFF2-40B4-BE49-F238E27FC236}">
                <a16:creationId xmlns:a16="http://schemas.microsoft.com/office/drawing/2014/main" id="{D6C4A655-DF57-4E51-A14B-69B1725C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EVIDENCE BEFORE CERTAINTY</a:t>
            </a:r>
          </a:p>
        </p:txBody>
      </p:sp>
      <p:sp>
        <p:nvSpPr>
          <p:cNvPr id="139" name="Treatment caption">
            <a:extLst xmlns:a="http://schemas.openxmlformats.org/drawingml/2006/main">
              <a:ext uri="{FF2B5EF4-FFF2-40B4-BE49-F238E27FC236}">
                <a16:creationId xmlns:a16="http://schemas.microsoft.com/office/drawing/2014/main" id="{1389AE96-E7AB-4F14-B660-8A618F02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290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PRACTICAL, SAFER ACTIONS</a:t>
            </a:r>
          </a:p>
        </p:txBody>
      </p:sp>
      <p:sp>
        <p:nvSpPr>
          <p:cNvPr id="140" name="Product note">
            <a:extLst xmlns:a="http://schemas.openxmlformats.org/drawingml/2006/main">
              <a:ext uri="{FF2B5EF4-FFF2-40B4-BE49-F238E27FC236}">
                <a16:creationId xmlns:a16="http://schemas.microsoft.com/office/drawing/2014/main" id="{DA0FE8AE-67E7-4867-9DE3-B6AC5F0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5A"/>
                </a:solidFill>
                <a:latin typeface="Arial"/>
                <a:ea typeface="Arial"/>
                <a:cs typeface="Arial"/>
              </a:rPr>
              <a:t>Causes show supporting and contradicting evidence. Treatment opens on demand and keeps the expert check visible.</a:t>
            </a:r>
          </a:p>
        </p:txBody>
      </p:sp>
    </p:spTree>
    <p:extLst>
      <p:ext uri="{BB962C8B-B14F-4D97-AF65-F5344CB8AC3E}">
        <p14:creationId xmlns:p14="http://schemas.microsoft.com/office/powerpoint/2010/main" val="6557580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78BE7ED1-6997-4BF3-9D45-BC6FBFC97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c598bb2bf44a5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3387328E-CEB1-4C0A-8ADE-CCDF979B2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082bce0134ff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7F1CD2B4-9EEA-4926-848B-FE1B96C4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A236F5FD-F37C-48F3-8B7E-5FEB7A4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Prototype performance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CA48858-23D1-499A-ACEC-B13A5A5CE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699dcaee94a2f"/>
          <a:stretch xmlns:a="http://schemas.openxmlformats.org/drawingml/2006/main"/>
        </p:blipFill>
        <p:spPr>
          <a:xfrm xmlns:a="http://schemas.openxmlformats.org/drawingml/2006/main">
            <a:off x="715453" y="1285875"/>
            <a:ext cx="7713093" cy="2190750"/>
          </a:xfrm>
          <a:prstGeom xmlns:a="http://schemas.openxmlformats.org/drawingml/2006/main" prst="rect">
            <a:avLst/>
          </a:prstGeom>
        </p:spPr>
      </p:pic>
      <p:sp>
        <p:nvSpPr>
          <p:cNvPr id="145" name="Metric 0">
            <a:extLst xmlns:a="http://schemas.openxmlformats.org/drawingml/2006/main">
              <a:ext uri="{FF2B5EF4-FFF2-40B4-BE49-F238E27FC236}">
                <a16:creationId xmlns:a16="http://schemas.microsoft.com/office/drawing/2014/main" id="{389C0C83-9C69-4207-8719-305049A2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763</a:t>
            </a:r>
          </a:p>
        </p:txBody>
      </p:sp>
      <p:sp>
        <p:nvSpPr>
          <p:cNvPr id="146" name="Metric label 0">
            <a:extLst xmlns:a="http://schemas.openxmlformats.org/drawingml/2006/main">
              <a:ext uri="{FF2B5EF4-FFF2-40B4-BE49-F238E27FC236}">
                <a16:creationId xmlns:a16="http://schemas.microsoft.com/office/drawing/2014/main" id="{A110C732-E2E3-4358-B629-B7A80B5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719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labelled reference images</a:t>
            </a:r>
          </a:p>
        </p:txBody>
      </p:sp>
      <p:sp>
        <p:nvSpPr>
          <p:cNvPr id="147" name="Metric 1">
            <a:extLst xmlns:a="http://schemas.openxmlformats.org/drawingml/2006/main">
              <a:ext uri="{FF2B5EF4-FFF2-40B4-BE49-F238E27FC236}">
                <a16:creationId xmlns:a16="http://schemas.microsoft.com/office/drawing/2014/main" id="{945D60FC-2767-4455-8FAA-9EB6A32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623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333</a:t>
            </a:r>
          </a:p>
        </p:txBody>
      </p:sp>
      <p:sp>
        <p:nvSpPr>
          <p:cNvPr id="148" name="Metric label 1">
            <a:extLst xmlns:a="http://schemas.openxmlformats.org/drawingml/2006/main">
              <a:ext uri="{FF2B5EF4-FFF2-40B4-BE49-F238E27FC236}">
                <a16:creationId xmlns:a16="http://schemas.microsoft.com/office/drawing/2014/main" id="{D2AE3192-1869-4510-9116-E2F87702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719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held-out evaluation images</a:t>
            </a:r>
          </a:p>
        </p:txBody>
      </p:sp>
      <p:sp>
        <p:nvSpPr>
          <p:cNvPr id="149" name="Metric 2">
            <a:extLst xmlns:a="http://schemas.openxmlformats.org/drawingml/2006/main">
              <a:ext uri="{FF2B5EF4-FFF2-40B4-BE49-F238E27FC236}">
                <a16:creationId xmlns:a16="http://schemas.microsoft.com/office/drawing/2014/main" id="{B323B5CA-F4B8-4CF0-BC0F-0C3D0A7B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623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25–30 s</a:t>
            </a:r>
          </a:p>
        </p:txBody>
      </p:sp>
      <p:sp>
        <p:nvSpPr>
          <p:cNvPr id="150" name="Metric label 2">
            <a:extLst xmlns:a="http://schemas.openxmlformats.org/drawingml/2006/main">
              <a:ext uri="{FF2B5EF4-FFF2-40B4-BE49-F238E27FC236}">
                <a16:creationId xmlns:a16="http://schemas.microsoft.com/office/drawing/2014/main" id="{059739A8-48FC-49F5-9F5F-CD86897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719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full investigation (prototype)</a:t>
            </a:r>
          </a:p>
        </p:txBody>
      </p:sp>
      <p:sp>
        <p:nvSpPr>
          <p:cNvPr id="151" name="Performance caveat">
            <a:extLst xmlns:a="http://schemas.openxmlformats.org/drawingml/2006/main">
              <a:ext uri="{FF2B5EF4-FFF2-40B4-BE49-F238E27FC236}">
                <a16:creationId xmlns:a16="http://schemas.microsoft.com/office/drawing/2014/main" id="{5DB42C65-FA09-4117-B22C-E76E430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807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35A"/>
                </a:solidFill>
                <a:latin typeface="Arial"/>
                <a:ea typeface="Arial"/>
                <a:cs typeface="Arial"/>
              </a:rPr>
              <a:t>Retrieval metrics in the README are DINOv2 baseline results; Gemini Embedding 2 production-index evaluation is not reported yet. Rice top-cause hit rate improved 0.50 → 0.90 on 10 held-out field photos.</a:t>
            </a:r>
          </a:p>
        </p:txBody>
      </p:sp>
    </p:spTree>
    <p:extLst>
      <p:ext uri="{BB962C8B-B14F-4D97-AF65-F5344CB8AC3E}">
        <p14:creationId xmlns:p14="http://schemas.microsoft.com/office/powerpoint/2010/main" val="8850424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505BC963-A16C-474D-82A7-ABEC2237A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886d0e012a413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21E03B09-6C34-4B41-8152-039BE3A9C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088bc4aa040e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40EA9229-5B5E-40E4-842D-6B0BFED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2BAFB465-1A0D-4586-A6C2-3900526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What comes next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Roadmap heading 0">
            <a:extLst xmlns:a="http://schemas.openxmlformats.org/drawingml/2006/main">
              <a:ext uri="{FF2B5EF4-FFF2-40B4-BE49-F238E27FC236}">
                <a16:creationId xmlns:a16="http://schemas.microsoft.com/office/drawing/2014/main" id="{E8F97554-2AD0-43F4-9F8D-07E317FF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ASK BACK</a:t>
            </a:r>
          </a:p>
        </p:txBody>
      </p:sp>
      <p:sp>
        <p:nvSpPr>
          <p:cNvPr id="153" name="Roadmap description 0">
            <a:extLst xmlns:a="http://schemas.openxmlformats.org/drawingml/2006/main">
              <a:ext uri="{FF2B5EF4-FFF2-40B4-BE49-F238E27FC236}">
                <a16:creationId xmlns:a16="http://schemas.microsoft.com/office/drawing/2014/main" id="{29EDE069-4FD8-4B05-96F4-BB37515A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478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A short voice question when two causes are close.</a:t>
            </a:r>
          </a:p>
        </p:txBody>
      </p:sp>
      <p:sp>
        <p:nvSpPr>
          <p:cNvPr id="154" name="Roadmap heading 1">
            <a:extLst xmlns:a="http://schemas.openxmlformats.org/drawingml/2006/main">
              <a:ext uri="{FF2B5EF4-FFF2-40B4-BE49-F238E27FC236}">
                <a16:creationId xmlns:a16="http://schemas.microsoft.com/office/drawing/2014/main" id="{55511060-F00E-4C3F-9328-7D287418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WARN EARLIER</a:t>
            </a:r>
          </a:p>
        </p:txBody>
      </p:sp>
      <p:sp>
        <p:nvSpPr>
          <p:cNvPr id="155" name="Roadmap description 1">
            <a:extLst xmlns:a="http://schemas.openxmlformats.org/drawingml/2006/main">
              <a:ext uri="{FF2B5EF4-FFF2-40B4-BE49-F238E27FC236}">
                <a16:creationId xmlns:a16="http://schemas.microsoft.com/office/drawing/2014/main" id="{57778C67-1AC4-4B29-A427-FE2CAFD3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8122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Use the five-day forecast for disease-risk alerts.</a:t>
            </a:r>
          </a:p>
        </p:txBody>
      </p:sp>
      <p:sp>
        <p:nvSpPr>
          <p:cNvPr id="156" name="Roadmap heading 2">
            <a:extLst xmlns:a="http://schemas.openxmlformats.org/drawingml/2006/main">
              <a:ext uri="{FF2B5EF4-FFF2-40B4-BE49-F238E27FC236}">
                <a16:creationId xmlns:a16="http://schemas.microsoft.com/office/drawing/2014/main" id="{D8ABC82A-3513-4594-AC29-EEF9AC20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CONNECT PEOPLE</a:t>
            </a:r>
          </a:p>
        </p:txBody>
      </p:sp>
      <p:sp>
        <p:nvSpPr>
          <p:cNvPr id="157" name="Roadmap description 2">
            <a:extLst xmlns:a="http://schemas.openxmlformats.org/drawingml/2006/main">
              <a:ext uri="{FF2B5EF4-FFF2-40B4-BE49-F238E27FC236}">
                <a16:creationId xmlns:a16="http://schemas.microsoft.com/office/drawing/2014/main" id="{C6AD1031-A81A-4171-85D2-FAC3931F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146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Opt-in district signals and shareable KVK case cards.</a:t>
            </a:r>
          </a:p>
        </p:txBody>
      </p:sp>
      <p:sp>
        <p:nvSpPr>
          <p:cNvPr id="158" name="Roadmap heading 3">
            <a:extLst xmlns:a="http://schemas.openxmlformats.org/drawingml/2006/main">
              <a:ext uri="{FF2B5EF4-FFF2-40B4-BE49-F238E27FC236}">
                <a16:creationId xmlns:a16="http://schemas.microsoft.com/office/drawing/2014/main" id="{1EA8779F-7A38-467F-932C-F22101E7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GROW COVERAGE</a:t>
            </a:r>
          </a:p>
        </p:txBody>
      </p:sp>
      <p:sp>
        <p:nvSpPr>
          <p:cNvPr id="159" name="Roadmap description 3">
            <a:extLst xmlns:a="http://schemas.openxmlformats.org/drawingml/2006/main">
              <a:ext uri="{FF2B5EF4-FFF2-40B4-BE49-F238E27FC236}">
                <a16:creationId xmlns:a16="http://schemas.microsoft.com/office/drawing/2014/main" id="{480CE06C-A0D0-446D-A190-5866BE32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480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More crops, regions and offline first-pass triage.</a:t>
            </a:r>
          </a:p>
        </p:txBody>
      </p:sp>
      <p:sp>
        <p:nvSpPr>
          <p:cNvPr id="160" name="Roadmap closing">
            <a:extLst xmlns:a="http://schemas.openxmlformats.org/drawingml/2006/main">
              <a:ext uri="{FF2B5EF4-FFF2-40B4-BE49-F238E27FC236}">
                <a16:creationId xmlns:a16="http://schemas.microsoft.com/office/drawing/2014/main" id="{F190AFBC-1547-490A-9974-A748A996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752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A"/>
                </a:solidFill>
                <a:latin typeface="Arial"/>
                <a:ea typeface="Arial"/>
                <a:cs typeface="Arial"/>
              </a:rPr>
              <a:t>A diagnosis should lead to an expert when it needs one.</a:t>
            </a:r>
          </a:p>
        </p:txBody>
      </p:sp>
    </p:spTree>
    <p:extLst>
      <p:ext uri="{BB962C8B-B14F-4D97-AF65-F5344CB8AC3E}">
        <p14:creationId xmlns:p14="http://schemas.microsoft.com/office/powerpoint/2010/main" val="213625058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69580DF0-72BF-4647-8F87-321B898FE8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a7278fc61d4b7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DC682665-A688-45F1-A993-20E0AB75F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e210f49cf4b7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FACEF53C-16DE-469B-9EE1-445092D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7D57DBC3-052C-4CA4-B83B-2C863813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13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latin typeface="Arial"/>
                <a:ea typeface="Arial"/>
                <a:cs typeface="Arial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Links canvas">
            <a:extLst xmlns:a="http://schemas.openxmlformats.org/drawingml/2006/main">
              <a:ext uri="{FF2B5EF4-FFF2-40B4-BE49-F238E27FC236}">
                <a16:creationId xmlns:a16="http://schemas.microsoft.com/office/drawing/2014/main" id="{F0E4B39B-5D10-46DC-ABD5-DE75C2D8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9144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1" name="Links intro">
            <a:extLst xmlns:a="http://schemas.openxmlformats.org/drawingml/2006/main">
              <a:ext uri="{FF2B5EF4-FFF2-40B4-BE49-F238E27FC236}">
                <a16:creationId xmlns:a16="http://schemas.microsoft.com/office/drawing/2014/main" id="{E6BE00CE-F1E1-4A35-B27E-D0E5E327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162" name="GitHub link">
            <a:extLst xmlns:a="http://schemas.openxmlformats.org/drawingml/2006/main">
              <a:ext uri="{FF2B5EF4-FFF2-40B4-BE49-F238E27FC236}">
                <a16:creationId xmlns:a16="http://schemas.microsoft.com/office/drawing/2014/main" id="{8BE2D081-B211-4738-856E-78E2BF6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https://github.com/jayeshrajani/RootCause</a:t>
            </a:r>
          </a:p>
        </p:txBody>
      </p:sp>
      <p:sp>
        <p:nvSpPr>
          <p:cNvPr id="163" name="Product label">
            <a:extLst xmlns:a="http://schemas.openxmlformats.org/drawingml/2006/main">
              <a:ext uri="{FF2B5EF4-FFF2-40B4-BE49-F238E27FC236}">
                <a16:creationId xmlns:a16="http://schemas.microsoft.com/office/drawing/2014/main" id="{CE0AAFF2-AC35-4107-95BE-A9C0DDAD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479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164" name="Product link">
            <a:extLst xmlns:a="http://schemas.openxmlformats.org/drawingml/2006/main">
              <a:ext uri="{FF2B5EF4-FFF2-40B4-BE49-F238E27FC236}">
                <a16:creationId xmlns:a16="http://schemas.microsoft.com/office/drawing/2014/main" id="{360736A3-A27B-4B0C-B287-E720722B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717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E"/>
                </a:solidFill>
                <a:latin typeface="Arial"/>
                <a:ea typeface="Arial"/>
                <a:cs typeface="Arial"/>
              </a:rPr>
              <a:t>https://rootcause-web-lp7bmse7yq-el.a.run.app/</a:t>
            </a:r>
          </a:p>
        </p:txBody>
      </p:sp>
      <p:sp>
        <p:nvSpPr>
          <p:cNvPr id="165" name="Demo video label">
            <a:extLst xmlns:a="http://schemas.openxmlformats.org/drawingml/2006/main">
              <a:ext uri="{FF2B5EF4-FFF2-40B4-BE49-F238E27FC236}">
                <a16:creationId xmlns:a16="http://schemas.microsoft.com/office/drawing/2014/main" id="{B38916BF-FC58-41E0-B133-DF360765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DEMO VIDEO</a:t>
            </a:r>
          </a:p>
        </p:txBody>
      </p:sp>
      <p:sp>
        <p:nvSpPr>
          <p:cNvPr id="166" name="Demo video field">
            <a:extLst xmlns:a="http://schemas.openxmlformats.org/drawingml/2006/main">
              <a:ext uri="{FF2B5EF4-FFF2-40B4-BE49-F238E27FC236}">
                <a16:creationId xmlns:a16="http://schemas.microsoft.com/office/drawing/2014/main" id="{D779CFDF-9A60-4A62-8274-C9687C33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790666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3217944C-E77B-4271-A3C2-AD4025907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5360ba82d7483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C7C65A8E-DE24-49ED-9A2A-26C118B4E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28afc07fa42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E7239D26-127D-4CF0-8A7F-480D0D9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Snapshot extension title">
            <a:extLst xmlns:a="http://schemas.openxmlformats.org/drawingml/2006/main">
              <a:ext uri="{FF2B5EF4-FFF2-40B4-BE49-F238E27FC236}">
                <a16:creationId xmlns:a16="http://schemas.microsoft.com/office/drawing/2014/main" id="{D131E60D-8A6A-4E33-80BB-52E7B08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51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E"/>
                </a:solidFill>
                <a:latin typeface="Arial"/>
                <a:ea typeface="Arial"/>
                <a:cs typeface="Arial"/>
              </a:rPr>
              <a:t>A few more things the farmer can do</a:t>
            </a:r>
          </a:p>
        </p:txBody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B0B0419-F771-4611-8EBE-2FDB89A3D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0b4600e19472b"/>
          <a:stretch xmlns:a="http://schemas.openxmlformats.org/drawingml/2006/main"/>
        </p:blipFill>
        <p:spPr>
          <a:xfrm xmlns:a="http://schemas.openxmlformats.org/drawingml/2006/main">
            <a:off x="516255" y="1438275"/>
            <a:ext cx="3901440" cy="2438400"/>
          </a:xfrm>
          <a:prstGeom xmlns:a="http://schemas.openxmlformats.org/drawingml/2006/main" prst="rect">
            <a:avLst/>
          </a:prstGeom>
        </p:spPr>
      </p:pic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A2A2635-96E2-47B1-8E8E-881B2427A0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5ce7286ad489d"/>
          <a:stretch xmlns:a="http://schemas.openxmlformats.org/drawingml/2006/main"/>
        </p:blipFill>
        <p:spPr>
          <a:xfrm xmlns:a="http://schemas.openxmlformats.org/drawingml/2006/main">
            <a:off x="5649318" y="1257300"/>
            <a:ext cx="1417239" cy="3067050"/>
          </a:xfrm>
          <a:prstGeom xmlns:a="http://schemas.openxmlformats.org/drawingml/2006/main" prst="rect">
            <a:avLst/>
          </a:prstGeom>
        </p:spPr>
      </p:pic>
      <p:sp>
        <p:nvSpPr>
          <p:cNvPr id="170" name="Shop caption">
            <a:extLst xmlns:a="http://schemas.openxmlformats.org/drawingml/2006/main">
              <a:ext uri="{FF2B5EF4-FFF2-40B4-BE49-F238E27FC236}">
                <a16:creationId xmlns:a16="http://schemas.microsoft.com/office/drawing/2014/main" id="{59CC7ABB-30AA-47FF-93DE-D4E0247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REAL PLACES, OPEN IN MAPS</a:t>
            </a:r>
          </a:p>
        </p:txBody>
      </p:sp>
      <p:sp>
        <p:nvSpPr>
          <p:cNvPr id="171" name="Analysis caption">
            <a:extLst xmlns:a="http://schemas.openxmlformats.org/drawingml/2006/main">
              <a:ext uri="{FF2B5EF4-FFF2-40B4-BE49-F238E27FC236}">
                <a16:creationId xmlns:a16="http://schemas.microsoft.com/office/drawing/2014/main" id="{0C81F46B-3A6F-40EA-B9A5-818BA39D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100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14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4F3A"/>
                </a:solidFill>
                <a:latin typeface="Arial"/>
                <a:ea typeface="Arial"/>
                <a:cs typeface="Arial"/>
              </a:rPr>
              <a:t>STEPS SHOWN AS THEY RUN</a:t>
            </a:r>
          </a:p>
        </p:txBody>
      </p:sp>
      <p:sp>
        <p:nvSpPr>
          <p:cNvPr id="172" name="Shop note">
            <a:extLst xmlns:a="http://schemas.openxmlformats.org/drawingml/2006/main">
              <a:ext uri="{FF2B5EF4-FFF2-40B4-BE49-F238E27FC236}">
                <a16:creationId xmlns:a16="http://schemas.microsoft.com/office/drawing/2014/main" id="{F21C4179-C7BB-4CBB-A775-C806211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35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5A"/>
                </a:solidFill>
                <a:latin typeface="Arial"/>
                <a:ea typeface="Arial"/>
                <a:cs typeface="Arial"/>
              </a:rPr>
              <a:t>Photos and audio are processed in memory and never stored or logged.</a:t>
            </a:r>
          </a:p>
        </p:txBody>
      </p:sp>
    </p:spTree>
    <p:extLst>
      <p:ext uri="{BB962C8B-B14F-4D97-AF65-F5344CB8AC3E}">
        <p14:creationId xmlns:p14="http://schemas.microsoft.com/office/powerpoint/2010/main" val="19985785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DDA44865-A23E-4901-B8E0-1F7086FD9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68e26d4efc41e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576BF892-EF2A-4DD1-8324-AEDECDF4E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ef4b4cec74a5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1791581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2026-10-17T13:21:31.8570000Z</dcterms:created>
  <dcterms:modified xsi:type="dcterms:W3CDTF">2026-10-17T13:21:31.8570000Z</dcterms:modified>
</coreProperties>
</file>